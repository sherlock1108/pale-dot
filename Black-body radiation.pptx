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9" r:id="rId7"/>
    <p:sldId id="265" r:id="rId8"/>
    <p:sldId id="267" r:id="rId9"/>
    <p:sldId id="266" r:id="rId10"/>
    <p:sldId id="268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11AA7-E6B4-4A4F-AE4B-19B5C65D3A3F}" v="831" dt="2025-10-03T15:17:43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khith Duvvapu" userId="db34df0a85b8dc5c" providerId="LiveId" clId="{8D89A818-0BF1-48F4-820E-2260ABA3462D}"/>
    <pc:docChg chg="undo custSel addSld modSld sldOrd">
      <pc:chgData name="Likhith Duvvapu" userId="db34df0a85b8dc5c" providerId="LiveId" clId="{8D89A818-0BF1-48F4-820E-2260ABA3462D}" dt="2025-10-03T15:17:43.181" v="1297" actId="20577"/>
      <pc:docMkLst>
        <pc:docMk/>
      </pc:docMkLst>
      <pc:sldChg chg="ord">
        <pc:chgData name="Likhith Duvvapu" userId="db34df0a85b8dc5c" providerId="LiveId" clId="{8D89A818-0BF1-48F4-820E-2260ABA3462D}" dt="2025-10-03T15:11:29.602" v="1211"/>
        <pc:sldMkLst>
          <pc:docMk/>
          <pc:sldMk cId="3716145357" sldId="264"/>
        </pc:sldMkLst>
      </pc:sldChg>
      <pc:sldChg chg="modSp mod">
        <pc:chgData name="Likhith Duvvapu" userId="db34df0a85b8dc5c" providerId="LiveId" clId="{8D89A818-0BF1-48F4-820E-2260ABA3462D}" dt="2025-10-03T05:15:53.982" v="670" actId="20577"/>
        <pc:sldMkLst>
          <pc:docMk/>
          <pc:sldMk cId="1125649134" sldId="266"/>
        </pc:sldMkLst>
        <pc:spChg chg="mod">
          <ac:chgData name="Likhith Duvvapu" userId="db34df0a85b8dc5c" providerId="LiveId" clId="{8D89A818-0BF1-48F4-820E-2260ABA3462D}" dt="2025-10-03T05:15:53.982" v="670" actId="20577"/>
          <ac:spMkLst>
            <pc:docMk/>
            <pc:sldMk cId="1125649134" sldId="266"/>
            <ac:spMk id="3" creationId="{AA6EBE2E-4FF0-6336-611B-817EB97C1C01}"/>
          </ac:spMkLst>
        </pc:spChg>
      </pc:sldChg>
      <pc:sldChg chg="modSp new mod">
        <pc:chgData name="Likhith Duvvapu" userId="db34df0a85b8dc5c" providerId="LiveId" clId="{8D89A818-0BF1-48F4-820E-2260ABA3462D}" dt="2025-10-03T06:11:40.729" v="778" actId="20577"/>
        <pc:sldMkLst>
          <pc:docMk/>
          <pc:sldMk cId="1725955860" sldId="267"/>
        </pc:sldMkLst>
        <pc:spChg chg="mod">
          <ac:chgData name="Likhith Duvvapu" userId="db34df0a85b8dc5c" providerId="LiveId" clId="{8D89A818-0BF1-48F4-820E-2260ABA3462D}" dt="2025-10-03T04:39:14.913" v="14" actId="20577"/>
          <ac:spMkLst>
            <pc:docMk/>
            <pc:sldMk cId="1725955860" sldId="267"/>
            <ac:spMk id="2" creationId="{2C4E3E32-6AB5-EB75-DC90-53099B6C0469}"/>
          </ac:spMkLst>
        </pc:spChg>
        <pc:spChg chg="mod">
          <ac:chgData name="Likhith Duvvapu" userId="db34df0a85b8dc5c" providerId="LiveId" clId="{8D89A818-0BF1-48F4-820E-2260ABA3462D}" dt="2025-10-03T06:11:40.729" v="778" actId="20577"/>
          <ac:spMkLst>
            <pc:docMk/>
            <pc:sldMk cId="1725955860" sldId="267"/>
            <ac:spMk id="3" creationId="{371834BA-A0A5-5133-2A3C-05E9CFD5F460}"/>
          </ac:spMkLst>
        </pc:spChg>
      </pc:sldChg>
      <pc:sldChg chg="addSp delSp modSp new mod">
        <pc:chgData name="Likhith Duvvapu" userId="db34df0a85b8dc5c" providerId="LiveId" clId="{8D89A818-0BF1-48F4-820E-2260ABA3462D}" dt="2025-10-03T15:17:43.181" v="1297" actId="20577"/>
        <pc:sldMkLst>
          <pc:docMk/>
          <pc:sldMk cId="2068086396" sldId="268"/>
        </pc:sldMkLst>
        <pc:spChg chg="mod">
          <ac:chgData name="Likhith Duvvapu" userId="db34df0a85b8dc5c" providerId="LiveId" clId="{8D89A818-0BF1-48F4-820E-2260ABA3462D}" dt="2025-10-03T05:16:10.729" v="691" actId="20577"/>
          <ac:spMkLst>
            <pc:docMk/>
            <pc:sldMk cId="2068086396" sldId="268"/>
            <ac:spMk id="2" creationId="{A40F13DB-9A43-76B6-6B58-72F9A9FA70AD}"/>
          </ac:spMkLst>
        </pc:spChg>
        <pc:spChg chg="mod">
          <ac:chgData name="Likhith Duvvapu" userId="db34df0a85b8dc5c" providerId="LiveId" clId="{8D89A818-0BF1-48F4-820E-2260ABA3462D}" dt="2025-10-03T15:17:43.181" v="1297" actId="20577"/>
          <ac:spMkLst>
            <pc:docMk/>
            <pc:sldMk cId="2068086396" sldId="268"/>
            <ac:spMk id="3" creationId="{F42FDBE8-02CC-395F-E263-F7BAB419AC3E}"/>
          </ac:spMkLst>
        </pc:spChg>
        <pc:spChg chg="add del">
          <ac:chgData name="Likhith Duvvapu" userId="db34df0a85b8dc5c" providerId="LiveId" clId="{8D89A818-0BF1-48F4-820E-2260ABA3462D}" dt="2025-10-03T06:22:55.500" v="883" actId="11529"/>
          <ac:spMkLst>
            <pc:docMk/>
            <pc:sldMk cId="2068086396" sldId="268"/>
            <ac:spMk id="4" creationId="{1D2FB0E6-677E-BC40-C920-6340C36CE3BC}"/>
          </ac:spMkLst>
        </pc:spChg>
      </pc:sldChg>
      <pc:sldChg chg="addSp modSp new mod">
        <pc:chgData name="Likhith Duvvapu" userId="db34df0a85b8dc5c" providerId="LiveId" clId="{8D89A818-0BF1-48F4-820E-2260ABA3462D}" dt="2025-10-03T15:08:55.287" v="1209" actId="14100"/>
        <pc:sldMkLst>
          <pc:docMk/>
          <pc:sldMk cId="3631388127" sldId="269"/>
        </pc:sldMkLst>
        <pc:spChg chg="mod">
          <ac:chgData name="Likhith Duvvapu" userId="db34df0a85b8dc5c" providerId="LiveId" clId="{8D89A818-0BF1-48F4-820E-2260ABA3462D}" dt="2025-10-03T15:05:48.848" v="1087" actId="20577"/>
          <ac:spMkLst>
            <pc:docMk/>
            <pc:sldMk cId="3631388127" sldId="269"/>
            <ac:spMk id="2" creationId="{266B52B9-2459-8837-D1B3-20C9E3194A42}"/>
          </ac:spMkLst>
        </pc:spChg>
        <pc:spChg chg="mod">
          <ac:chgData name="Likhith Duvvapu" userId="db34df0a85b8dc5c" providerId="LiveId" clId="{8D89A818-0BF1-48F4-820E-2260ABA3462D}" dt="2025-10-03T15:08:14.210" v="1204" actId="16959"/>
          <ac:spMkLst>
            <pc:docMk/>
            <pc:sldMk cId="3631388127" sldId="269"/>
            <ac:spMk id="3" creationId="{4CC3E635-AE00-4EC5-27D9-9A37548BBFA7}"/>
          </ac:spMkLst>
        </pc:spChg>
        <pc:picChg chg="add mod">
          <ac:chgData name="Likhith Duvvapu" userId="db34df0a85b8dc5c" providerId="LiveId" clId="{8D89A818-0BF1-48F4-820E-2260ABA3462D}" dt="2025-10-03T15:08:55.287" v="1209" actId="14100"/>
          <ac:picMkLst>
            <pc:docMk/>
            <pc:sldMk cId="3631388127" sldId="269"/>
            <ac:picMk id="1026" creationId="{1B2295B0-0316-B253-ACB1-378666C3B2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F227-3980-AEC2-1F76-9FDDF8B94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69B2B-5250-2009-2ED4-3E6B9B811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0E157-9A6E-D188-B33E-DD9E7BDC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E8D2B-879B-851D-6A40-A6697EF86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92898-A0C8-4953-ABA4-B8B6C9F4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1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0967-C2AB-C7CF-62DE-E946CD77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F2779-B4A4-2B26-1026-1DA6E8C3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B0763-BBA7-A225-FFAF-BF808705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D3B97-433E-19B8-A8FC-5411048D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872D-DD1B-FBAA-FCC9-B425B326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1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FCB6-2FE4-6869-4DD3-C7F2C1489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3762C-BEA8-E3D2-E4C4-EF4FAB404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CB2A-853D-C319-FAED-D2B14A03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269E-EACE-67CE-010E-83F7F0A9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D3F98-5989-A4F1-4B4F-979D2940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65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0499-EB89-EADB-4D74-E097C844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C959-86CF-4FE7-0540-2905CB386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C0DB6-0E84-055B-2690-C70940CD4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F7599-4B96-8353-0EAA-5C2537A3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72673-7FA8-B55C-6E47-3DCF7680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2AFB-3E67-911D-9D5D-B496672D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8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0531-1B12-3588-5659-22DABD3B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B8F75-6D3D-84C9-5D33-B1ACC057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DFAD-B6FF-0025-D1A9-A0AE27A18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4C0FC-DD3A-BB37-9EF7-939F41D53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EE7AE-095E-8864-C056-3AC1B2C91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E418C-3F42-06F7-8C36-49AE78E5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75CB9-B470-54FE-F2B2-12AA8CC55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911E7-030A-0E63-C8EE-AF38A312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63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38F5-7CE0-7F54-8F5A-108A1C3D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14C1A-520A-C412-BDC7-6DA7B56C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DC39E-2559-4267-5595-0D2CF1F4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7F34D-7134-8664-7430-974756B3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46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51943-0887-7A4F-D261-E605CE3D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804D3-C73A-9805-20D1-EDA6007F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AD54B-E0F9-5587-78FE-BCC4DF9E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6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ED2E-9C11-D14F-2A3A-2BC42424B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CF6A-CCB9-1E27-9B92-1EEB3919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976F4-8C34-519F-E4B1-F9CBD600F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AA748-1039-5D72-42F0-AD8A764B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6B1A1-63DB-2563-DB64-FBAE977C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03FFB-1F02-CBE0-D585-8E265767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68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4A60-A0A0-295A-0984-33B476DD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B9748-7BCB-F965-DE4E-BAD38C8C5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C3F76-6112-B5CD-8AA8-F32C339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C7E8A-F5D6-7443-07F6-030910C2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4437E-ECFD-1864-917A-1B0EC3D2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96039-3406-5631-80B1-AD5F610B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71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5500-863C-95C6-F43C-CE7C4484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6015C-ADBA-802C-A0B2-00A7938C6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2A56-FE0A-0F90-7240-0A1A5633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C90B0-BBD1-23A9-C379-67FEF5FC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A355F-9B0B-65C8-3512-C7F5A215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27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8992A-5039-6336-8861-C6AD31C87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658E5-4340-4A0E-BAFC-CD5097D6C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FD44F-66C6-BD09-6CAA-B2BC99B7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B7FE2-670E-0862-6807-CF910559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B1E0-6ECB-78A5-C15C-7DA4E374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8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BB49A-1D1E-099B-B518-C8E1EF6A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3CC39-F3D5-D249-D67D-A4590A950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8652-D79F-08F9-B878-2B1D93C46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3772E-CD78-485D-AC6C-5D3AEBC928F9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960D1-57F7-8CC5-5991-951299A48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74FA-2995-1502-B196-671384457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5B842-3397-4167-8B41-49BD0B0F0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28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maricopa.edu/physicalgeology/chapter/22-1-starting-with-a-big-ba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iology.stackexchange.com/questions/37240/do-birds-emit-infrared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gyptianchronicles.blogspot.com/2019/04/a-black-hole-to-remembe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hyperlink" Target="https://courses.lumenlearning.com/earthscience/chapter/the-sun/" TargetMode="Externa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arthscience.stackexchange.com/questions/4498/how-does-the-sun-heat-the-ear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44321-BA2A-D70C-92FA-CEBB6558D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Black-body radiation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50C39-D267-8923-1E74-540B4F5C08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Stefan-Boltzmann Law</a:t>
            </a:r>
          </a:p>
        </p:txBody>
      </p:sp>
    </p:spTree>
    <p:extLst>
      <p:ext uri="{BB962C8B-B14F-4D97-AF65-F5344CB8AC3E}">
        <p14:creationId xmlns:p14="http://schemas.microsoft.com/office/powerpoint/2010/main" val="276101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C2B9-6874-355B-B1B7-5E282EC6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of Matter &amp;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CFC7-9E8B-7247-F857-80AC6FED0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Thermodynamics does not allow for </a:t>
            </a:r>
            <a:r>
              <a:rPr lang="en-IN" i="1" dirty="0"/>
              <a:t>any </a:t>
            </a:r>
            <a:r>
              <a:rPr lang="en-IN" dirty="0"/>
              <a:t>object to have a temperature of </a:t>
            </a:r>
            <a:r>
              <a:rPr lang="en-IN" b="1" dirty="0"/>
              <a:t>ZERO</a:t>
            </a:r>
          </a:p>
          <a:p>
            <a:r>
              <a:rPr lang="en-IN" dirty="0"/>
              <a:t>By virtue of its temperature (always non-zero), the object will emit </a:t>
            </a:r>
            <a:r>
              <a:rPr lang="en-IN" i="1" dirty="0"/>
              <a:t>light</a:t>
            </a:r>
            <a:r>
              <a:rPr lang="en-IN" dirty="0"/>
              <a:t> in the form of </a:t>
            </a:r>
            <a:r>
              <a:rPr lang="en-IN" b="1" u="sng" dirty="0"/>
              <a:t>thermal radiation</a:t>
            </a:r>
            <a:endParaRPr lang="en-IN" b="1" dirty="0"/>
          </a:p>
        </p:txBody>
      </p:sp>
      <p:pic>
        <p:nvPicPr>
          <p:cNvPr id="5" name="Picture 4" descr="A blue and yellow oval with green spots&#10;&#10;AI-generated content may be incorrect.">
            <a:extLst>
              <a:ext uri="{FF2B5EF4-FFF2-40B4-BE49-F238E27FC236}">
                <a16:creationId xmlns:a16="http://schemas.microsoft.com/office/drawing/2014/main" id="{1ADDA313-0312-BC1F-A933-44B4D4ADA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46524" y="3674520"/>
            <a:ext cx="7059942" cy="3183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61ECD8-CB94-3E95-0C48-D965B74D7088}"/>
              </a:ext>
            </a:extLst>
          </p:cNvPr>
          <p:cNvSpPr txBox="1"/>
          <p:nvPr/>
        </p:nvSpPr>
        <p:spPr>
          <a:xfrm>
            <a:off x="2269067" y="7002530"/>
            <a:ext cx="6588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open.maricopa.edu/physicalgeology/chapter/22-1-starting-with-a-big-bang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16457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2323-C6EE-576D-2682-1AE57D01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of Matter &amp;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FD65B-1F31-EBCA-DD57-D0620C8B0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Matter emits light through other forms like fluorescence, bioluminescence, etc. Unlike </a:t>
            </a:r>
            <a:r>
              <a:rPr lang="en-IN" u="sng" dirty="0"/>
              <a:t>thermal radiation</a:t>
            </a:r>
            <a:r>
              <a:rPr lang="en-IN" dirty="0"/>
              <a:t>, these emissions depend on the material composition &amp; surface structure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Note:- </a:t>
            </a:r>
            <a:r>
              <a:rPr lang="en-IN" dirty="0"/>
              <a:t>Emission of radiation is completely different from </a:t>
            </a:r>
            <a:r>
              <a:rPr lang="en-IN" u="sng" dirty="0"/>
              <a:t>reflection</a:t>
            </a:r>
            <a:r>
              <a:rPr lang="en-IN" dirty="0"/>
              <a:t>, </a:t>
            </a:r>
            <a:r>
              <a:rPr lang="en-IN" u="sng" dirty="0"/>
              <a:t>refraction</a:t>
            </a:r>
            <a:r>
              <a:rPr lang="en-IN" dirty="0"/>
              <a:t> or </a:t>
            </a:r>
            <a:r>
              <a:rPr lang="en-IN" u="sng" dirty="0"/>
              <a:t>scattering </a:t>
            </a:r>
            <a:r>
              <a:rPr lang="en-IN" dirty="0"/>
              <a:t>of light</a:t>
            </a:r>
          </a:p>
          <a:p>
            <a:pPr marL="0" indent="0">
              <a:buNone/>
            </a:pPr>
            <a:r>
              <a:rPr lang="en-IN" dirty="0"/>
              <a:t>All objects </a:t>
            </a:r>
            <a:r>
              <a:rPr lang="en-IN" i="1" dirty="0"/>
              <a:t>glow, </a:t>
            </a:r>
            <a:r>
              <a:rPr lang="en-IN" dirty="0"/>
              <a:t>even when they are not reflecting light</a:t>
            </a:r>
          </a:p>
          <a:p>
            <a:pPr marL="0" indent="0">
              <a:buNone/>
            </a:pPr>
            <a:r>
              <a:rPr lang="en-IN" dirty="0"/>
              <a:t>For most objects perceived by human eyes, this glow is not in the </a:t>
            </a:r>
            <a:r>
              <a:rPr lang="en-IN" b="1" dirty="0"/>
              <a:t>visible range. </a:t>
            </a:r>
            <a:r>
              <a:rPr lang="en-IN" dirty="0"/>
              <a:t>Reflection is the only reason they are visible</a:t>
            </a:r>
          </a:p>
        </p:txBody>
      </p:sp>
    </p:spTree>
    <p:extLst>
      <p:ext uri="{BB962C8B-B14F-4D97-AF65-F5344CB8AC3E}">
        <p14:creationId xmlns:p14="http://schemas.microsoft.com/office/powerpoint/2010/main" val="315427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D6D9-6CF0-5992-8005-044C01A0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Interaction of Matter &amp;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141B2-E9D9-DD5E-F94E-C827116BA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17068" cy="4752975"/>
          </a:xfrm>
        </p:spPr>
        <p:txBody>
          <a:bodyPr/>
          <a:lstStyle/>
          <a:p>
            <a:r>
              <a:rPr lang="en-IN" dirty="0"/>
              <a:t>When light hits some object:</a:t>
            </a:r>
          </a:p>
          <a:p>
            <a:pPr marL="514350" indent="-514350">
              <a:buAutoNum type="arabicPeriod"/>
            </a:pPr>
            <a:r>
              <a:rPr lang="en-IN" dirty="0"/>
              <a:t>Depending on the material, specific wavelengths may be reflected or scattered, and others absorbed</a:t>
            </a:r>
          </a:p>
          <a:p>
            <a:pPr marL="514350" indent="-514350">
              <a:buAutoNum type="arabicPeriod"/>
            </a:pPr>
            <a:r>
              <a:rPr lang="en-IN" dirty="0"/>
              <a:t>The absorption leads to an increase in temperature, which requires the object to radiate away light as thermal radiation - </a:t>
            </a:r>
            <a:r>
              <a:rPr lang="en-IN" u="sng" dirty="0"/>
              <a:t>emission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5" name="Picture 4" descr="A bird with a red and blue light&#10;&#10;AI-generated content may be incorrect.">
            <a:extLst>
              <a:ext uri="{FF2B5EF4-FFF2-40B4-BE49-F238E27FC236}">
                <a16:creationId xmlns:a16="http://schemas.microsoft.com/office/drawing/2014/main" id="{6E3E3AEC-1ECA-52FD-4C92-F227207D9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63798" y="1825624"/>
            <a:ext cx="5114935" cy="34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0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16E4-D742-928F-341B-10AF631D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Black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C5497-9AE9-8C65-80E9-D970C6E9B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concept of a black body makes things easier to compare &amp; analyse. It is a hypothetical object that absorbs </a:t>
            </a:r>
            <a:r>
              <a:rPr lang="en-IN" u="sng" dirty="0"/>
              <a:t>any &amp; all </a:t>
            </a:r>
            <a:r>
              <a:rPr lang="en-IN" dirty="0"/>
              <a:t>wavelengths of light, and radiates it as thermal radiation</a:t>
            </a:r>
          </a:p>
          <a:p>
            <a:r>
              <a:rPr lang="en-IN" dirty="0"/>
              <a:t>It is a perfect absorber &amp;  perfect emitter; therefore, it is </a:t>
            </a:r>
            <a:r>
              <a:rPr lang="en-IN" i="1" dirty="0"/>
              <a:t>forever</a:t>
            </a:r>
            <a:r>
              <a:rPr lang="en-IN" dirty="0"/>
              <a:t> in a state of thermal equilibrium with its surroundings</a:t>
            </a:r>
          </a:p>
          <a:p>
            <a:r>
              <a:rPr lang="en-IN" dirty="0"/>
              <a:t>Its emission only depends on its temperature and nothing else.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Temperature cannot be “deleted”, and so a black body is an </a:t>
            </a:r>
            <a:r>
              <a:rPr lang="en-IN" i="1" dirty="0"/>
              <a:t>idealised baseline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44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5. Radiation spectra of a blackbody and a real body at a given temperature.">
            <a:extLst>
              <a:ext uri="{FF2B5EF4-FFF2-40B4-BE49-F238E27FC236}">
                <a16:creationId xmlns:a16="http://schemas.microsoft.com/office/drawing/2014/main" id="{0FFC907D-E7A0-B0F0-31E5-BDFEC859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" y="517503"/>
            <a:ext cx="10693400" cy="634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88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FCD2-C6E8-4836-5C36-CD9EFE84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Black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5101-455D-8D4D-90DE-3BC506CC5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4" y="1690688"/>
            <a:ext cx="7086599" cy="16536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thermal radiation emitted by a black body is called </a:t>
            </a:r>
            <a:r>
              <a:rPr lang="en-IN" b="1" dirty="0"/>
              <a:t>black body radiation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bright light in the dark&#10;&#10;AI-generated content may be incorrect.">
            <a:extLst>
              <a:ext uri="{FF2B5EF4-FFF2-40B4-BE49-F238E27FC236}">
                <a16:creationId xmlns:a16="http://schemas.microsoft.com/office/drawing/2014/main" id="{D33A7EC1-062B-030C-273E-E70478F81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07667" y="3957445"/>
            <a:ext cx="5884334" cy="2900555"/>
          </a:xfrm>
          <a:prstGeom prst="rect">
            <a:avLst/>
          </a:prstGeom>
        </p:spPr>
      </p:pic>
      <p:pic>
        <p:nvPicPr>
          <p:cNvPr id="8" name="Picture 7" descr="A yellow circle with black spots&#10;&#10;AI-generated content may be incorrect.">
            <a:extLst>
              <a:ext uri="{FF2B5EF4-FFF2-40B4-BE49-F238E27FC236}">
                <a16:creationId xmlns:a16="http://schemas.microsoft.com/office/drawing/2014/main" id="{841F5D2D-B4F3-3A69-8574-C373D9F1C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14734" y="0"/>
            <a:ext cx="4377266" cy="39574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E5F83B-4E8A-CE52-7ACF-0C79207754B0}"/>
              </a:ext>
            </a:extLst>
          </p:cNvPr>
          <p:cNvSpPr txBox="1"/>
          <p:nvPr/>
        </p:nvSpPr>
        <p:spPr>
          <a:xfrm>
            <a:off x="550331" y="2577015"/>
            <a:ext cx="4470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While there are no </a:t>
            </a:r>
            <a:r>
              <a:rPr lang="en-IN" sz="2800" i="1" dirty="0"/>
              <a:t>actual </a:t>
            </a:r>
            <a:r>
              <a:rPr lang="en-IN" sz="2800" dirty="0"/>
              <a:t>black bodies, there are close approximations of black bodies in nature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8BCDAD-CF55-051A-4DF1-3C7D781BA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31" y="4543425"/>
            <a:ext cx="4402669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228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3E32-6AB5-EB75-DC90-53099B6C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Planck’s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1834BA-A0A5-5133-2A3C-05E9CFD5F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Planck’s law gives the measure of energy radiated by a black body</a:t>
                </a:r>
              </a:p>
              <a:p>
                <a:pPr marL="0" indent="0">
                  <a:buNone/>
                </a:pPr>
                <a:r>
                  <a:rPr lang="en-IN" dirty="0"/>
                  <a:t>The </a:t>
                </a:r>
                <a:r>
                  <a:rPr lang="en-IN" i="1" dirty="0"/>
                  <a:t>energy per unit volume per unit frequency </a:t>
                </a:r>
                <a:r>
                  <a:rPr lang="en-IN" dirty="0"/>
                  <a:t>is given by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h𝑣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𝑓𝑟𝑒𝑞𝑢𝑒𝑛𝑐𝑦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𝑝𝑒𝑒𝑑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𝑙𝑖𝑔h𝑡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𝑡𝑒𝑚𝑝𝑒𝑟𝑎𝑡𝑢𝑟𝑒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𝑃𝑙𝑎𝑛𝑐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=6.626 × 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−34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=2.71828</m:t>
                      </m:r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𝐵𝑜𝑙𝑡𝑧𝑚𝑎𝑛𝑛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=1.380 × 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−23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1834BA-A0A5-5133-2A3C-05E9CFD5F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1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95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1855-0222-F525-C6E8-FE6951A8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Stefan-Boltzmann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BE2E-4FF0-6336-611B-817EB97C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intensity of the thermal radiation due to the temperature is given by this law: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/>
              <a:t>For a black body, the total energy radiated per unit surface area per unit time is directly proportional to the 4</a:t>
            </a:r>
            <a:r>
              <a:rPr lang="en-IN" i="1" baseline="30000" dirty="0"/>
              <a:t>th</a:t>
            </a:r>
            <a:r>
              <a:rPr lang="en-IN" i="1" dirty="0"/>
              <a:t> power of the black body’s temperature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dirty="0"/>
              <a:t>This law is a consequence of Planck’s law</a:t>
            </a:r>
          </a:p>
        </p:txBody>
      </p:sp>
    </p:spTree>
    <p:extLst>
      <p:ext uri="{BB962C8B-B14F-4D97-AF65-F5344CB8AC3E}">
        <p14:creationId xmlns:p14="http://schemas.microsoft.com/office/powerpoint/2010/main" val="112564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13DB-9A43-76B6-6B58-72F9A9FA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Stefan-Boltzmann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FDBE8-02CC-395F-E263-F7BAB419AC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h𝑣</m:t>
                                    </m:r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𝑘𝑇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IN" dirty="0"/>
                  <a:t>, integrating by substitution –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h𝑣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&amp;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IN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/>
                  <a:t>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𝑘𝑇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𝑘𝑇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nary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            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Power per unit area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IN" dirty="0"/>
                      <m:t>⇒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where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=5.670 ×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FDBE8-02CC-395F-E263-F7BAB419A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08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52B9-2459-8837-D1B3-20C9E319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Stefan-Boltzmann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3E635-AE00-4EC5-27D9-9A37548BBF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Since black bodies are perfect absorbers &amp; emitters, their emissivity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1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General case:- P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3E635-AE00-4EC5-27D9-9A37548BB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1B2295B0-0316-B253-ACB1-378666C3B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267" y="2272771"/>
            <a:ext cx="6072716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38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E9E416-ADB3-F292-3471-281D15A3F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46729"/>
          <a:stretch>
            <a:fillRect/>
          </a:stretch>
        </p:blipFill>
        <p:spPr>
          <a:xfrm>
            <a:off x="6189132" y="609070"/>
            <a:ext cx="6002867" cy="5912371"/>
          </a:xfrm>
          <a:prstGeom prst="rect">
            <a:avLst/>
          </a:prstGeom>
        </p:spPr>
      </p:pic>
      <p:pic>
        <p:nvPicPr>
          <p:cNvPr id="4" name="Picture 3" descr="A graph of a graph of sunlight&#10;&#10;AI-generated content may be incorrect.">
            <a:extLst>
              <a:ext uri="{FF2B5EF4-FFF2-40B4-BE49-F238E27FC236}">
                <a16:creationId xmlns:a16="http://schemas.microsoft.com/office/drawing/2014/main" id="{6DCDD87F-EDD6-759B-0201-4C4082292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270933" y="609070"/>
            <a:ext cx="6460065" cy="563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4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3184</TotalTime>
  <Words>496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Black-body radiation</vt:lpstr>
      <vt:lpstr>Interaction of Matter &amp; Light</vt:lpstr>
      <vt:lpstr>Interaction of Matter &amp; Light</vt:lpstr>
      <vt:lpstr>Interaction of Matter &amp; Light</vt:lpstr>
      <vt:lpstr>Black body</vt:lpstr>
      <vt:lpstr>PowerPoint Presentation</vt:lpstr>
      <vt:lpstr>Black body</vt:lpstr>
      <vt:lpstr>Planck’s law</vt:lpstr>
      <vt:lpstr>Stefan-Boltzmann law</vt:lpstr>
      <vt:lpstr>Stefan-Boltzmann law</vt:lpstr>
      <vt:lpstr>Stefan-Boltzmann law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 Duvvapu</dc:creator>
  <cp:lastModifiedBy>Likhith Duvvapu</cp:lastModifiedBy>
  <cp:revision>1</cp:revision>
  <dcterms:created xsi:type="dcterms:W3CDTF">2025-09-30T12:41:30Z</dcterms:created>
  <dcterms:modified xsi:type="dcterms:W3CDTF">2025-10-03T15:17:47Z</dcterms:modified>
</cp:coreProperties>
</file>